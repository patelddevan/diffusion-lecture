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Bree Serif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24" Type="http://schemas.openxmlformats.org/officeDocument/2006/relationships/font" Target="fonts/BreeSerif-regular.fntdata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heaisummer.com/diffusion-models/" TargetMode="External"/><Relationship Id="rId3" Type="http://schemas.openxmlformats.org/officeDocument/2006/relationships/hyperlink" Target="https://www.youtube.com/watch?v=mYpjmM7O-30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919934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9199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d98241991_0_1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d9824199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d9824199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d9824199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6f919934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c6f9199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d9824199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d9824199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9824199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d9824199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d98241991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d98241991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d98241991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d98241991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f7c31043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f7c31043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d98241991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d98241991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9824199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d9824199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f7c31043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f7c31043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How diffusion models work: the math from scratch | AI Summer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Lesson 9B - the math of diffusion - YouTube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1a86667d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1a86667d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britannica.com/science/Brownian-motion" TargetMode="External"/><Relationship Id="rId4" Type="http://schemas.openxmlformats.org/officeDocument/2006/relationships/hyperlink" Target="https://arxiv.org/abs/1503.03585" TargetMode="External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olab.research.google.com/drive/1jFD67fwKuKiUnZ7nkzuwCmfhlum2oeqH#scrollTo=prEhLuceZqc_" TargetMode="External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21CwiputpLbFHJpRQ3t72XAH2Hpw8QkN/view?usp=drive_link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rive.google.com/file/d/1R3Epdf4zR6aTK-eb1chjGtcw0-8rON-u/view?usp=drive_link" TargetMode="External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file/d/1sePAppcWyQnGwZe0Q1YJ3kDRl2jrYCi-/view?usp=drive_link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603197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Models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1654132"/>
            <a:ext cx="4529700" cy="23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drop of ink is initially concentrated and slowly disperses in the liquid, becoming more and more chaotic.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randomness that emerges with every passing tick is the result of the ink molecules colliding with water molecules. This is </a:t>
            </a:r>
            <a:r>
              <a:rPr b="1" lang="en" u="sng">
                <a:solidFill>
                  <a:schemeClr val="hlink"/>
                </a:solidFill>
                <a:hlinkClick r:id="rId3"/>
              </a:rPr>
              <a:t>Brownian motion</a:t>
            </a:r>
            <a:r>
              <a:rPr b="1" lang="en"/>
              <a:t>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hlink"/>
                </a:solidFill>
                <a:hlinkClick r:id="rId4"/>
              </a:rPr>
              <a:t>Deep Unsupervised Learning using Nonequilibrium Thermodynamics</a:t>
            </a:r>
            <a:r>
              <a:rPr b="1" lang="en" sz="1300"/>
              <a:t> (Jascha Sohl-Dickstein, Eric A. Weiss, Niru Maheswaranathan, Surya Ganguli)</a:t>
            </a:r>
            <a:endParaRPr b="1" sz="1300"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2774" y="1709836"/>
            <a:ext cx="3003014" cy="23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5142762" y="4075168"/>
            <a:ext cx="3003000" cy="74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F00"/>
                </a:highlight>
                <a:latin typeface="Bree Serif"/>
                <a:ea typeface="Bree Serif"/>
                <a:cs typeface="Bree Serif"/>
                <a:sym typeface="Bree Serif"/>
              </a:rPr>
              <a:t>Given the two images, could you approximate where the initial ink drop might have been?</a:t>
            </a:r>
            <a:endParaRPr sz="1300">
              <a:solidFill>
                <a:schemeClr val="dk2"/>
              </a:solidFill>
              <a:highlight>
                <a:srgbClr val="FFFF00"/>
              </a:highlight>
              <a:latin typeface="Bree Serif"/>
              <a:ea typeface="Bree Serif"/>
              <a:cs typeface="Bree Serif"/>
              <a:sym typeface="Bree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471900" y="454000"/>
            <a:ext cx="8222100" cy="105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to generate images by learning to generate dice rolls.</a:t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</a:t>
            </a:r>
            <a:r>
              <a:rPr lang="en"/>
              <a:t> models aim to generate new images by learning the probability distribution of all images p*(x).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 course, we cannot map the exact distribution for every possible high-dimensional image (e.g. 1000x1000), so we approximate it as p(x) using training data.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Before diving into image generation, </a:t>
            </a:r>
            <a:r>
              <a:rPr lang="en"/>
              <a:t>let's</a:t>
            </a:r>
            <a:r>
              <a:rPr lang="en"/>
              <a:t> explore a closely related problem.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Dice Rolls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1919075"/>
            <a:ext cx="8222100" cy="30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would you write a program that can generate dice roll samples for a fair dice?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know P(0) = P(1) = P(2) = P(3) = P(4) = P(5) = P(6) = ⅙.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knowing these probabilities only tells us the behavior of a very large sample size.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</a:t>
            </a:r>
            <a:r>
              <a:rPr b="1" lang="en"/>
              <a:t>doesn’t directly help us generate individual samples.</a:t>
            </a:r>
            <a:endParaRPr b="1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726" y="3334201"/>
            <a:ext cx="1548050" cy="15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Monte Carlo Sampling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were trying to generate a new colored image of size 1000 x 1000, can we simply initialize each pixel’s value [0,255] across each color channel randomly and hope for a good image?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attempted this, we would almost always get an image with </a:t>
            </a:r>
            <a:r>
              <a:rPr b="1" lang="en"/>
              <a:t>signal-to-noise ratio of almost 0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Does </a:t>
            </a:r>
            <a:r>
              <a:rPr b="1" lang="en"/>
              <a:t>this work for dice rolls? Yes</a:t>
            </a:r>
            <a:r>
              <a:rPr lang="en"/>
              <a:t>, because we can bound values within [1,6] and every value is a valid output of a die roll.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Sampling from Uniform Distribution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71900" y="1919075"/>
            <a:ext cx="81234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 might use libraries like numpy.random.uniform to generate uniform samples within range [0,1] and discretize the continuous output into 6 equal-sized buckets.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Now suppose you don’t have access to any of these built-in capabilities but you have access to numpy.random.normal.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Langevin Sampling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71900" y="1919075"/>
            <a:ext cx="83757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There exists an algorithm that lets us generate samples from any probability distribution (approximately) as long as we can:</a:t>
            </a:r>
            <a:endParaRPr sz="1800"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Generate samples from the Gaussian distribution (some black box algorithm)</a:t>
            </a:r>
            <a:endParaRPr sz="1800"/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Have access to a function F that takes as input a location in the target sample space and returns the direction that most quickly increases the probability that a sample comes from the target distribution.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Function and Gaussian Noise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71900" y="1883051"/>
            <a:ext cx="3999900" cy="3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F(x) is a gradient function and helps us </a:t>
            </a:r>
            <a:r>
              <a:rPr b="1" lang="en" sz="1600">
                <a:highlight>
                  <a:srgbClr val="A4C2F4"/>
                </a:highlight>
              </a:rPr>
              <a:t>move from low probability regions to higher probability regions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Langevin sampling exploits knowledge of the gradients of the PDF. We don’t know the actual PDF.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 guesses an initial value and then iteratively adjusts it using F so that it appears to have been generated from the target distribution.</a:t>
            </a:r>
            <a:endParaRPr sz="1600"/>
          </a:p>
        </p:txBody>
      </p:sp>
      <p:sp>
        <p:nvSpPr>
          <p:cNvPr id="108" name="Google Shape;108;p19"/>
          <p:cNvSpPr txBox="1"/>
          <p:nvPr>
            <p:ph idx="2" type="body"/>
          </p:nvPr>
        </p:nvSpPr>
        <p:spPr>
          <a:xfrm>
            <a:off x="4694250" y="1883050"/>
            <a:ext cx="3999900" cy="32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Random Gaussian noise is added to F(x) to </a:t>
            </a:r>
            <a:r>
              <a:rPr b="1" lang="en" sz="1600">
                <a:highlight>
                  <a:srgbClr val="A4C2F4"/>
                </a:highlight>
              </a:rPr>
              <a:t>aid in exploration</a:t>
            </a:r>
            <a:r>
              <a:rPr lang="en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If we don’t add the noise, we will simply move towards a high probability region and get stuck at a single peak in the probability landscape.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Think about how this resembles SGD.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Langevin Sampling - the algorithm</a:t>
            </a:r>
            <a:endParaRPr/>
          </a:p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47205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Algorithm: Langevin sampling (generates </a:t>
            </a:r>
            <a:r>
              <a:rPr i="1" lang="en" sz="1800"/>
              <a:t>one </a:t>
            </a:r>
            <a:r>
              <a:rPr lang="en" sz="1800"/>
              <a:t>sample)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x</a:t>
            </a:r>
            <a:r>
              <a:rPr baseline="-25000" lang="en" sz="1800"/>
              <a:t>0 </a:t>
            </a:r>
            <a:r>
              <a:rPr lang="en" sz="1800"/>
              <a:t> ~ Ɲ(0,1)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for t ← 0 to 1000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	z</a:t>
            </a:r>
            <a:r>
              <a:rPr baseline="-25000" lang="en" sz="1800"/>
              <a:t>t  </a:t>
            </a:r>
            <a:r>
              <a:rPr lang="en" sz="1800"/>
              <a:t>~ Ɲ(0,1)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/>
              <a:t>	x</a:t>
            </a:r>
            <a:r>
              <a:rPr baseline="-25000" lang="en" sz="1800"/>
              <a:t>t+1</a:t>
            </a:r>
            <a:r>
              <a:rPr lang="en" sz="1800"/>
              <a:t> = x</a:t>
            </a:r>
            <a:r>
              <a:rPr baseline="-25000" lang="en" sz="1800"/>
              <a:t>t</a:t>
            </a:r>
            <a:r>
              <a:rPr lang="en" sz="1800"/>
              <a:t> + </a:t>
            </a:r>
            <a:r>
              <a:rPr lang="en" sz="1800">
                <a:highlight>
                  <a:srgbClr val="FFFF00"/>
                </a:highlight>
              </a:rPr>
              <a:t>(𝜖/2) F(x</a:t>
            </a:r>
            <a:r>
              <a:rPr baseline="-25000" lang="en" sz="1800">
                <a:highlight>
                  <a:srgbClr val="FFFF00"/>
                </a:highlight>
              </a:rPr>
              <a:t>t</a:t>
            </a:r>
            <a:r>
              <a:rPr lang="en" sz="1800">
                <a:highlight>
                  <a:srgbClr val="FFFF00"/>
                </a:highlight>
              </a:rPr>
              <a:t>)</a:t>
            </a:r>
            <a:r>
              <a:rPr lang="en" sz="1800"/>
              <a:t> + </a:t>
            </a:r>
            <a:r>
              <a:rPr lang="en" sz="1800">
                <a:highlight>
                  <a:srgbClr val="FF9900"/>
                </a:highlight>
              </a:rPr>
              <a:t>sqrt(𝜖)z</a:t>
            </a:r>
            <a:r>
              <a:rPr baseline="-25000" lang="en" sz="1800">
                <a:highlight>
                  <a:srgbClr val="FF9900"/>
                </a:highlight>
              </a:rPr>
              <a:t>t </a:t>
            </a:r>
            <a:endParaRPr sz="1800">
              <a:highlight>
                <a:srgbClr val="FF9900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models learn F(x) 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471900" y="1919075"/>
            <a:ext cx="54825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 is the gradient of the log </a:t>
            </a:r>
            <a:r>
              <a:rPr lang="en" sz="1800"/>
              <a:t>probability</a:t>
            </a:r>
            <a:r>
              <a:rPr lang="en" sz="1800"/>
              <a:t> density.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This is a vector field.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will come back to this but for now, we draw a parallel with Langevin Sampling.</a:t>
            </a:r>
            <a:endParaRPr sz="1800"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675" y="3431282"/>
            <a:ext cx="3086167" cy="7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541" y="2120721"/>
            <a:ext cx="2541275" cy="250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90525" y="82969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 Quick Visual Demo: </a:t>
            </a:r>
            <a:r>
              <a:rPr lang="en" sz="2600" u="sng">
                <a:solidFill>
                  <a:schemeClr val="dk2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diffusion_intuition.ipynb - Colab</a:t>
            </a:r>
            <a:endParaRPr sz="2900">
              <a:solidFill>
                <a:schemeClr val="dk2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i="1"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25" y="1904848"/>
            <a:ext cx="4035655" cy="305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Diffusion Process </a:t>
            </a:r>
            <a:r>
              <a:rPr lang="en" u="sng">
                <a:solidFill>
                  <a:schemeClr val="hlink"/>
                </a:solidFill>
                <a:hlinkClick r:id="rId3"/>
              </a:rPr>
              <a:t>(addn notes)</a:t>
            </a:r>
            <a:endParaRPr/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471900" y="1919075"/>
            <a:ext cx="8150100" cy="32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Markov process with Gaussian transitions: </a:t>
            </a:r>
            <a:r>
              <a:rPr lang="en"/>
              <a:t>We take each input image and bring it </a:t>
            </a:r>
            <a:r>
              <a:rPr b="1" lang="en">
                <a:highlight>
                  <a:srgbClr val="A4C2F4"/>
                </a:highlight>
              </a:rPr>
              <a:t>from a high probability regions to low probability regions iteratively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Remember that </a:t>
            </a:r>
            <a:r>
              <a:rPr lang="en"/>
              <a:t>each image in our training data is a real image but if we were to draw pixels </a:t>
            </a:r>
            <a:r>
              <a:rPr lang="en"/>
              <a:t>randomly</a:t>
            </a:r>
            <a:r>
              <a:rPr lang="en"/>
              <a:t>, our image would look nothing like a real image.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At each step, we produce an image with lower and lower </a:t>
            </a:r>
            <a:r>
              <a:rPr b="1" lang="en">
                <a:highlight>
                  <a:srgbClr val="A4C2F4"/>
                </a:highlight>
              </a:rPr>
              <a:t>signal-to-noise ratio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the mean and covariance of the normal distribution when </a:t>
            </a:r>
            <a:r>
              <a:rPr b="1" lang="en">
                <a:highlight>
                  <a:srgbClr val="FFFF00"/>
                </a:highlight>
              </a:rPr>
              <a:t>Ꞵ</a:t>
            </a:r>
            <a:r>
              <a:rPr b="1" baseline="-25000" lang="en">
                <a:highlight>
                  <a:srgbClr val="FFFF00"/>
                </a:highlight>
              </a:rPr>
              <a:t>t</a:t>
            </a:r>
            <a:r>
              <a:rPr b="1" lang="en">
                <a:highlight>
                  <a:srgbClr val="FFFF00"/>
                </a:highlight>
              </a:rPr>
              <a:t> = 0</a:t>
            </a:r>
            <a:r>
              <a:rPr lang="en">
                <a:highlight>
                  <a:srgbClr val="FFFF00"/>
                </a:highlight>
              </a:rPr>
              <a:t>? </a:t>
            </a:r>
            <a:r>
              <a:rPr lang="en">
                <a:highlight>
                  <a:srgbClr val="FFFF00"/>
                </a:highlight>
              </a:rPr>
              <a:t>when </a:t>
            </a:r>
            <a:r>
              <a:rPr b="1" lang="en">
                <a:highlight>
                  <a:srgbClr val="FFFF00"/>
                </a:highlight>
              </a:rPr>
              <a:t>Ꞵ</a:t>
            </a:r>
            <a:r>
              <a:rPr b="1" baseline="-25000" lang="en">
                <a:highlight>
                  <a:srgbClr val="FFFF00"/>
                </a:highlight>
              </a:rPr>
              <a:t>t</a:t>
            </a:r>
            <a:r>
              <a:rPr b="1" lang="en">
                <a:highlight>
                  <a:srgbClr val="FFFF00"/>
                </a:highlight>
              </a:rPr>
              <a:t> = 1</a:t>
            </a:r>
            <a:r>
              <a:rPr lang="en">
                <a:highlight>
                  <a:srgbClr val="FFFF00"/>
                </a:highlight>
              </a:rPr>
              <a:t>?</a:t>
            </a:r>
            <a:endParaRPr>
              <a:highlight>
                <a:srgbClr val="FF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Variance schedule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is a closed-form equation that allows us to sample directly from any x</a:t>
            </a:r>
            <a:r>
              <a:rPr baseline="-25000" lang="en"/>
              <a:t>t-1</a:t>
            </a:r>
            <a:r>
              <a:rPr lang="en"/>
              <a:t> to x</a:t>
            </a:r>
            <a:r>
              <a:rPr baseline="-25000" lang="en"/>
              <a:t>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All substeps are used in training but direct sampling means lower memory and computational requirements.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3275" y="3275999"/>
            <a:ext cx="7117450" cy="59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000" y="217942"/>
            <a:ext cx="4385600" cy="63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 Limit Theorem and Additive Noise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71900" y="1919075"/>
            <a:ext cx="4383000" cy="31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Why Gaussian distribution for modeling additive noise?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</a:t>
            </a:r>
            <a:r>
              <a:rPr b="1" lang="en"/>
              <a:t>CLT</a:t>
            </a:r>
            <a:r>
              <a:rPr lang="en"/>
              <a:t> proves if you take </a:t>
            </a:r>
            <a:r>
              <a:rPr lang="en"/>
              <a:t>sufficiently</a:t>
            </a:r>
            <a:r>
              <a:rPr lang="en"/>
              <a:t> large samples from a population, the samples’ means will be normally distributed, even if the population isn’t normally distributed.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makes </a:t>
            </a:r>
            <a:r>
              <a:rPr b="1" lang="en">
                <a:highlight>
                  <a:srgbClr val="A4C2F4"/>
                </a:highlight>
              </a:rPr>
              <a:t>selecting noise from a Gaussian distribution a natural choice</a:t>
            </a:r>
            <a:r>
              <a:rPr lang="en"/>
              <a:t> since even if we added noise from some other distribution, over time, the noise would converge to Gaussian.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make the process lengthier? We don’t.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3182" y="1970775"/>
            <a:ext cx="3881875" cy="28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Diffusion </a:t>
            </a:r>
            <a:r>
              <a:rPr lang="en" u="sng">
                <a:solidFill>
                  <a:schemeClr val="hlink"/>
                </a:solidFill>
                <a:hlinkClick r:id="rId3"/>
              </a:rPr>
              <a:t>(addn notes)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Given x</a:t>
            </a:r>
            <a:r>
              <a:rPr baseline="-25000" lang="en"/>
              <a:t>t</a:t>
            </a:r>
            <a:r>
              <a:rPr lang="en"/>
              <a:t> , find x</a:t>
            </a:r>
            <a:r>
              <a:rPr baseline="-25000" lang="en"/>
              <a:t>t-1 .</a:t>
            </a:r>
            <a:endParaRPr baseline="-25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Unlike the forward process, we don’t have access to the </a:t>
            </a:r>
            <a:r>
              <a:rPr b="1" lang="en"/>
              <a:t>reverse </a:t>
            </a:r>
            <a:r>
              <a:rPr b="1" lang="en"/>
              <a:t>probability</a:t>
            </a:r>
            <a:r>
              <a:rPr b="1" lang="en"/>
              <a:t> distribution</a:t>
            </a:r>
            <a:r>
              <a:rPr lang="en"/>
              <a:t> (computationally infeasible)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q( </a:t>
            </a:r>
            <a:r>
              <a:rPr lang="en"/>
              <a:t>x</a:t>
            </a:r>
            <a:r>
              <a:rPr baseline="-25000" lang="en"/>
              <a:t>t-1</a:t>
            </a:r>
            <a:r>
              <a:rPr lang="en"/>
              <a:t> | x</a:t>
            </a:r>
            <a:r>
              <a:rPr baseline="-25000" lang="en"/>
              <a:t>t</a:t>
            </a:r>
            <a:r>
              <a:rPr lang="en"/>
              <a:t> )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</a:t>
            </a:r>
            <a:r>
              <a:rPr b="1" lang="en"/>
              <a:t>approximate </a:t>
            </a:r>
            <a:r>
              <a:rPr lang="en"/>
              <a:t>the reverse distribution with a neural network.</a:t>
            </a:r>
            <a:endParaRPr/>
          </a:p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4694250" y="1747625"/>
            <a:ext cx="3999900" cy="33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 long as </a:t>
            </a:r>
            <a:r>
              <a:rPr b="1" lang="en"/>
              <a:t>noise was gradually added</a:t>
            </a:r>
            <a:r>
              <a:rPr lang="en"/>
              <a:t>, </a:t>
            </a:r>
            <a:r>
              <a:rPr lang="en"/>
              <a:t>two </a:t>
            </a:r>
            <a:r>
              <a:rPr lang="en"/>
              <a:t>neighboring samples are identical =&gt;</a:t>
            </a:r>
            <a:r>
              <a:rPr lang="en"/>
              <a:t> the </a:t>
            </a:r>
            <a:r>
              <a:rPr b="1" lang="en"/>
              <a:t>noise can be described by a normal distribution with some mean and variance</a:t>
            </a:r>
            <a:r>
              <a:rPr lang="en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noise removal process is not deterministic (++generalization) since it is described by a Gaussian distribution.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Given an input noisy image, the NN predicts the mean and variance at every timestamp, samples from the distribution and removes the predicted noise until a clear image is formed.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112" y="4234500"/>
            <a:ext cx="3792489" cy="76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</a:t>
            </a:r>
            <a:r>
              <a:rPr lang="en" u="sng">
                <a:solidFill>
                  <a:schemeClr val="hlink"/>
                </a:solidFill>
                <a:hlinkClick r:id="rId3"/>
              </a:rPr>
              <a:t>(addn notes)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Sample a batch of images.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Sample random timesteps.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Add noise according to schedule.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Predict noise with the model.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Compute MSE loss.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Backpropagate and update weights.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Repeat</a:t>
            </a:r>
            <a:endParaRPr/>
          </a:p>
        </p:txBody>
      </p:sp>
      <p:sp>
        <p:nvSpPr>
          <p:cNvPr id="158" name="Google Shape;158;p26"/>
          <p:cNvSpPr txBox="1"/>
          <p:nvPr>
            <p:ph idx="2" type="body"/>
          </p:nvPr>
        </p:nvSpPr>
        <p:spPr>
          <a:xfrm>
            <a:off x="4694250" y="1680950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UNet architecture (based on CNN and skip connections) was originally used by the authors of 2020 DDPM paper.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architecture used </a:t>
            </a:r>
            <a:r>
              <a:rPr lang="en"/>
              <a:t>sinusoidal</a:t>
            </a:r>
            <a:r>
              <a:rPr lang="en"/>
              <a:t> timestep embeddings to account for timestamps.</a:t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4675" y="3023043"/>
            <a:ext cx="3379475" cy="1968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